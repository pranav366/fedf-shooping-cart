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86" r:id="rId3"/>
    <p:sldId id="260" r:id="rId4"/>
    <p:sldId id="278" r:id="rId5"/>
    <p:sldId id="257" r:id="rId6"/>
    <p:sldId id="321" r:id="rId7"/>
    <p:sldId id="326" r:id="rId8"/>
    <p:sldId id="322" r:id="rId9"/>
    <p:sldId id="323" r:id="rId10"/>
    <p:sldId id="329" r:id="rId11"/>
    <p:sldId id="331" r:id="rId12"/>
    <p:sldId id="324" r:id="rId13"/>
    <p:sldId id="332" r:id="rId14"/>
    <p:sldId id="277" r:id="rId15"/>
    <p:sldId id="320" r:id="rId16"/>
    <p:sldId id="327" r:id="rId1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Shopping Cart &amp; Checkout Flow</a:t>
            </a:r>
            <a:endParaRPr lang="en-US" alt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600" b="1" dirty="0">
                <a:solidFill>
                  <a:srgbClr val="00B0F0"/>
                </a:solidFill>
                <a:latin typeface="Times New Roman" panose="02020603050405020304" pitchFamily="18" charset="0"/>
                <a:cs typeface="Times New Roman" panose="02020603050405020304" pitchFamily="18" charset="0"/>
              </a:rPr>
              <a:t>By</a:t>
            </a:r>
            <a:endParaRPr lang="en-US" sz="2600" b="1" dirty="0">
              <a:solidFill>
                <a:srgbClr val="00B0F0"/>
              </a:solidFill>
              <a:latin typeface="Times New Roman" panose="02020603050405020304" pitchFamily="18" charset="0"/>
              <a:cs typeface="Times New Roman" panose="02020603050405020304" pitchFamily="18" charset="0"/>
            </a:endParaRPr>
          </a:p>
          <a:p>
            <a:pPr marR="0"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    Name:   </a:t>
            </a:r>
            <a:r>
              <a:rPr lang="en-US" sz="3300">
                <a:solidFill>
                  <a:srgbClr val="0D0D0D"/>
                </a:solidFill>
                <a:latin typeface="Times New Roman" panose="02020603050405020304" pitchFamily="18" charset="0"/>
                <a:cs typeface="Times New Roman" panose="02020603050405020304" pitchFamily="18" charset="0"/>
              </a:rPr>
              <a:t>Dhanush      roll</a:t>
            </a:r>
            <a:r>
              <a:rPr lang="en-US" sz="3300" dirty="0">
                <a:solidFill>
                  <a:srgbClr val="0D0D0D"/>
                </a:solidFill>
                <a:latin typeface="Times New Roman" panose="02020603050405020304" pitchFamily="18" charset="0"/>
                <a:cs typeface="Times New Roman" panose="02020603050405020304" pitchFamily="18" charset="0"/>
              </a:rPr>
              <a:t>: 2520030014</a:t>
            </a:r>
            <a:endParaRPr lang="en-US" sz="3300" dirty="0">
              <a:solidFill>
                <a:srgbClr val="0D0D0D"/>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    Name:   Pranav          roll:2520030555</a:t>
            </a:r>
            <a:endParaRPr lang="en-US" sz="3300" dirty="0">
              <a:solidFill>
                <a:srgbClr val="0D0D0D"/>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     Name: Siddarth          roll:2520090187</a:t>
            </a:r>
            <a:endParaRPr lang="en-US" sz="3300" dirty="0">
              <a:solidFill>
                <a:srgbClr val="0D0D0D"/>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26</a:t>
            </a:r>
            <a:endParaRPr lang="en-US" sz="3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endParaRPr lang="en-GB" sz="3300" b="1" i="1" dirty="0">
              <a:solidFill>
                <a:srgbClr val="FF0000"/>
              </a:solidFill>
              <a:effectLst/>
              <a:latin typeface="Times New Roman" panose="02020603050405020304" pitchFamily="18" charset="0"/>
              <a:ea typeface="Times New Roman" panose="02020603050405020304" pitchFamily="18" charset="0"/>
            </a:endParaRPr>
          </a:p>
          <a:p>
            <a:pPr>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Ms. </a:t>
            </a:r>
            <a:r>
              <a:rPr lang="en-US" sz="3400" b="1" dirty="0" err="1">
                <a:solidFill>
                  <a:srgbClr val="00B0F0"/>
                </a:solidFill>
                <a:latin typeface="Times New Roman" panose="02020603050405020304" pitchFamily="18" charset="0"/>
                <a:cs typeface="Times New Roman" panose="02020603050405020304" pitchFamily="18" charset="0"/>
              </a:rPr>
              <a:t>D.Pavithra</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Assistant Professor </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4400" b="1" dirty="0">
              <a:solidFill>
                <a:srgbClr val="0070C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Outline of the Presentation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Project Flow Diagram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Objectives with Justification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Modules[Frontend web pages]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Expected Outcomes of the Proposed Work</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Conclusion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nvPr>
        </p:nvSpPr>
        <p:spPr>
          <a:xfrm>
            <a:off x="152400" y="1143000"/>
            <a:ext cx="8839200" cy="5440362"/>
          </a:xfrm>
        </p:spPr>
        <p:txBody>
          <a:bodyPr>
            <a:normAutofit fontScale="70000" lnSpcReduction="20000"/>
          </a:bodyPr>
          <a:lstStyle/>
          <a:p>
            <a:endParaRPr lang="en-IN" sz="2600" dirty="0"/>
          </a:p>
          <a:p>
            <a:r>
              <a:rPr lang="en-IN" sz="2600" dirty="0"/>
              <a:t>This project is a Smart Shopping Cart and Checkout Web Application developed using React, Vite, Tailwind CSS, Node.js, and Express. The main aim of the project is to provide users with a smooth online shopping experience by integrating key e-commerce features such as cart management, </a:t>
            </a:r>
            <a:r>
              <a:rPr lang="en-IN" sz="2600" dirty="0" err="1"/>
              <a:t>wishlist</a:t>
            </a:r>
            <a:r>
              <a:rPr lang="en-IN" sz="2600" dirty="0"/>
              <a:t> management, product comparison, checkout flow, authentication, and order tracking. The cart module allows users to add products, update quantities, remove items, save products for later, restore removed items, and view the total cart value. It also includes smart features such as cart expiry tracking, price lock, cart health score, budget limit, and cart activity timeline, helping users manage their shopping decisions more efficiently.</a:t>
            </a:r>
            <a:endParaRPr lang="en-IN" sz="2600" dirty="0"/>
          </a:p>
          <a:p>
            <a:endParaRPr lang="en-IN" sz="2600" dirty="0"/>
          </a:p>
          <a:p>
            <a:r>
              <a:rPr lang="en-IN" sz="2600" dirty="0"/>
              <a:t>The </a:t>
            </a:r>
            <a:r>
              <a:rPr lang="en-IN" sz="2600" dirty="0" err="1"/>
              <a:t>wishlist</a:t>
            </a:r>
            <a:r>
              <a:rPr lang="en-IN" sz="2600" dirty="0"/>
              <a:t> module enables users to save products for future purchase, while the compare module allows users to compare multiple products based on details such as price, category, rating, stock, and features before making a purchase decision. The application uses React Context API to manage cart, </a:t>
            </a:r>
            <a:r>
              <a:rPr lang="en-IN" sz="2600" dirty="0" err="1"/>
              <a:t>wishlist</a:t>
            </a:r>
            <a:r>
              <a:rPr lang="en-IN" sz="2600" dirty="0"/>
              <a:t>, compare, checkout, authentication, and theme states across the frontend. API communication is handled using </a:t>
            </a:r>
            <a:r>
              <a:rPr lang="en-IN" sz="2600" b="1" dirty="0"/>
              <a:t>Axios</a:t>
            </a:r>
            <a:r>
              <a:rPr lang="en-IN" sz="2600" dirty="0"/>
              <a:t>, while the backend is built with </a:t>
            </a:r>
            <a:r>
              <a:rPr lang="en-IN" sz="2600" b="1" dirty="0"/>
              <a:t>Express.js</a:t>
            </a:r>
            <a:r>
              <a:rPr lang="en-IN" sz="2600" dirty="0"/>
              <a:t> and stores data in JSON files. Overall, this project demonstrates the design and development of a modern e-commerce system with a strong focus on user interaction, state management, reusable components, and efficient shopping workflows</a:t>
            </a:r>
            <a:endParaRPr lang="en-IN" sz="2600" dirty="0"/>
          </a:p>
          <a:p>
            <a:endParaRPr lang="en-US" altLang="en-US"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36220" y="1417638"/>
            <a:ext cx="8602980" cy="4449763"/>
          </a:xfrm>
        </p:spPr>
        <p:txBody>
          <a:bodyPr>
            <a:normAutofit fontScale="62500" lnSpcReduction="20000"/>
          </a:bodyPr>
          <a:lstStyle/>
          <a:p>
            <a:r>
              <a:rPr lang="en-IN" dirty="0"/>
              <a:t>Online shopping applications have become an important part of modern digital commerce. Users expect a simple, fast, and reliable platform where they can browse products, save items, compare products, manage their cart, and complete purchases easily. This project, Smart Shopping Cart and Checkout Web Application, is designed to provide these essential e-commerce features in a user-friendly way.</a:t>
            </a:r>
            <a:endParaRPr lang="en-IN" dirty="0"/>
          </a:p>
          <a:p>
            <a:pPr marL="0" indent="0">
              <a:buNone/>
            </a:pPr>
            <a:endParaRPr lang="en-IN" dirty="0"/>
          </a:p>
          <a:p>
            <a:r>
              <a:rPr lang="en-IN" dirty="0"/>
              <a:t>The application is developed using React, Vite, Tailwind CSS, Node.js, and Express. It includes major modules such as cart management, </a:t>
            </a:r>
            <a:r>
              <a:rPr lang="en-IN" dirty="0" err="1"/>
              <a:t>wishlist</a:t>
            </a:r>
            <a:r>
              <a:rPr lang="en-IN" dirty="0"/>
              <a:t>, product comparison, checkout, authentication, and order tracking. The cart helps users manage selected products, the </a:t>
            </a:r>
            <a:r>
              <a:rPr lang="en-IN" dirty="0" err="1"/>
              <a:t>wishlist</a:t>
            </a:r>
            <a:r>
              <a:rPr lang="en-IN" dirty="0"/>
              <a:t> allows them to save products for later, and the compare feature supports better purchase decisions. Overall, this project demonstrates how a modern e-commerce application can be built using reusable components, state management, API integration, and a structured frontend-backend architecture.</a:t>
            </a:r>
            <a:endParaRPr lang="en-IN" dirty="0"/>
          </a:p>
          <a:p>
            <a:pPr marL="0" indent="0">
              <a:buNone/>
            </a:pPr>
            <a:r>
              <a:rPr lang="en-US"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0000" lnSpcReduction="10000"/>
          </a:bodyPr>
          <a:lstStyle/>
          <a:p>
            <a:r>
              <a:rPr lang="en-US" altLang="en-US" sz="2570">
                <a:latin typeface="Times New Roman" panose="02020603050405020304" pitchFamily="18" charset="0"/>
                <a:cs typeface="Times New Roman" panose="02020603050405020304" pitchFamily="18" charset="0"/>
              </a:rPr>
              <a:t>Modern e-commerce platforms often struggle with fragmented user experiences and security vulnerabilities during the checkout process. Client-side state management frequently leads to data loss during multi-step journeys, resulting in high cart abandonment rates. Furthermore, relying on the frontend for price calculations and discount validation exposes applications to malicious manipulation, compromising financial integrity.</a:t>
            </a:r>
            <a:endParaRPr lang="en-US" altLang="en-US" sz="2570">
              <a:latin typeface="Times New Roman" panose="02020603050405020304" pitchFamily="18" charset="0"/>
              <a:cs typeface="Times New Roman" panose="02020603050405020304" pitchFamily="18" charset="0"/>
            </a:endParaRPr>
          </a:p>
          <a:p>
            <a:endParaRPr lang="en-US" altLang="en-US" sz="2570">
              <a:latin typeface="Times New Roman" panose="02020603050405020304" pitchFamily="18" charset="0"/>
              <a:cs typeface="Times New Roman" panose="02020603050405020304" pitchFamily="18" charset="0"/>
            </a:endParaRPr>
          </a:p>
          <a:p>
            <a:r>
              <a:rPr lang="en-US" altLang="en-US" sz="2570">
                <a:latin typeface="Times New Roman" panose="02020603050405020304" pitchFamily="18" charset="0"/>
                <a:cs typeface="Times New Roman" panose="02020603050405020304" pitchFamily="18" charset="0"/>
              </a:rPr>
              <a:t>There is a critical need for a scalable, highly synchronized checkout architecture that ensures seamless data persistence across complex user flows while centralizing sensitive business logic on the backend to guarantee secure, tamper-proof transactions.</a:t>
            </a:r>
            <a:endParaRPr lang="en-US" altLang="en-US" sz="257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endParaRPr lang="en-US" sz="2800" b="1" dirty="0">
              <a:solidFill>
                <a:srgbClr val="0070C0"/>
              </a:solidFill>
              <a:latin typeface="Times New Roman" panose="02020603050405020304" pitchFamily="18" charset="0"/>
              <a:cs typeface="Times New Roman" panose="02020603050405020304" pitchFamily="18" charset="0"/>
            </a:endParaRPr>
          </a:p>
        </p:txBody>
      </p:sp>
      <p:pic>
        <p:nvPicPr>
          <p:cNvPr id="4" name="Content Placeholder 3" descr="gemini pic fedf"/>
          <p:cNvPicPr>
            <a:picLocks noGrp="1" noChangeAspect="1"/>
          </p:cNvPicPr>
          <p:nvPr>
            <p:ph idx="1"/>
          </p:nvPr>
        </p:nvPicPr>
        <p:blipFill>
          <a:blip r:embed="rId1"/>
          <a:stretch>
            <a:fillRect/>
          </a:stretch>
        </p:blipFill>
        <p:spPr>
          <a:xfrm>
            <a:off x="457200" y="1618615"/>
            <a:ext cx="8229600" cy="4488815"/>
          </a:xfrm>
          <a:prstGeom prst="rect">
            <a:avLst/>
          </a:prstGeom>
        </p:spPr>
      </p:pic>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295400"/>
            <a:ext cx="8452485" cy="5483225"/>
          </a:xfrm>
        </p:spPr>
        <p:txBody>
          <a:bodyPr>
            <a:noAutofit/>
          </a:bodyPr>
          <a:lstStyle/>
          <a:p>
            <a:r>
              <a:rPr lang="en-US" altLang="en-US" sz="1600" b="1" dirty="0">
                <a:latin typeface="Times New Roman" panose="02020603050405020304" pitchFamily="18" charset="0"/>
                <a:cs typeface="Times New Roman" panose="02020603050405020304" pitchFamily="18" charset="0"/>
              </a:rPr>
              <a:t>Secure Pricing &amp; Revenue Protection:</a:t>
            </a:r>
            <a:endParaRPr lang="en-US" altLang="en-US" sz="1600" b="1"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All price calculations and coupon validations are handled on the Express.js backend to prevent client-side tampering and guarantee financial integrity.</a:t>
            </a:r>
            <a:endParaRPr lang="en-US" altLang="en-US" sz="1600" dirty="0">
              <a:latin typeface="Times New Roman" panose="02020603050405020304" pitchFamily="18" charset="0"/>
              <a:cs typeface="Times New Roman" panose="02020603050405020304" pitchFamily="18" charset="0"/>
            </a:endParaRPr>
          </a:p>
          <a:p>
            <a:r>
              <a:rPr lang="en-US" altLang="en-US" sz="1600" b="1" dirty="0">
                <a:latin typeface="Times New Roman" panose="02020603050405020304" pitchFamily="18" charset="0"/>
                <a:cs typeface="Times New Roman" panose="02020603050405020304" pitchFamily="18" charset="0"/>
              </a:rPr>
              <a:t>Persistent User Data:</a:t>
            </a:r>
            <a:endParaRPr lang="en-US" altLang="en-US" sz="1600" b="1"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React Context API and LocalStorage save user progress across the 10-module journey, ensuring cart and address details aren't lost during page refreshes, reducing checkout abandonment.</a:t>
            </a:r>
            <a:endParaRPr lang="en-US" altLang="en-US" sz="1600" dirty="0">
              <a:latin typeface="Times New Roman" panose="02020603050405020304" pitchFamily="18" charset="0"/>
              <a:cs typeface="Times New Roman" panose="02020603050405020304" pitchFamily="18" charset="0"/>
            </a:endParaRPr>
          </a:p>
          <a:p>
            <a:r>
              <a:rPr lang="en-US" altLang="en-US" sz="1600" b="1" dirty="0">
                <a:latin typeface="Times New Roman" panose="02020603050405020304" pitchFamily="18" charset="0"/>
                <a:cs typeface="Times New Roman" panose="02020603050405020304" pitchFamily="18" charset="0"/>
              </a:rPr>
              <a:t>Instant Data Synchronization:</a:t>
            </a:r>
            <a:endParaRPr lang="en-US" altLang="en-US" sz="1600" b="1"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Axios manages real-time, asynchronous updates between the frontend and backend, providing users with immediate feedback on dynamic totals without disrupting the flow with full page reloads.</a:t>
            </a:r>
            <a:endParaRPr lang="en-US" altLang="en-US" sz="1600" dirty="0">
              <a:latin typeface="Times New Roman" panose="02020603050405020304" pitchFamily="18" charset="0"/>
              <a:cs typeface="Times New Roman" panose="02020603050405020304" pitchFamily="18" charset="0"/>
            </a:endParaRPr>
          </a:p>
          <a:p>
            <a:r>
              <a:rPr lang="en-US" altLang="en-US" sz="1600" b="1" dirty="0">
                <a:latin typeface="Times New Roman" panose="02020603050405020304" pitchFamily="18" charset="0"/>
                <a:cs typeface="Times New Roman" panose="02020603050405020304" pitchFamily="18" charset="0"/>
              </a:rPr>
              <a:t>Modular &amp; Scalable Design:</a:t>
            </a:r>
            <a:endParaRPr lang="en-US" altLang="en-US" sz="1600" b="1"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The entire checkout system is broken down into independent, reusable React components, simplifying debugging and allowing future features or payment methods to be added effortlessly.</a:t>
            </a:r>
            <a:endParaRPr lang="en-US" altLang="en-US" sz="1600" dirty="0">
              <a:latin typeface="Times New Roman" panose="02020603050405020304" pitchFamily="18" charset="0"/>
              <a:cs typeface="Times New Roman" panose="02020603050405020304" pitchFamily="18" charset="0"/>
            </a:endParaRPr>
          </a:p>
          <a:p>
            <a:r>
              <a:rPr lang="en-US" altLang="en-US" sz="1600" b="1" dirty="0">
                <a:latin typeface="Times New Roman" panose="02020603050405020304" pitchFamily="18" charset="0"/>
                <a:cs typeface="Times New Roman" panose="02020603050405020304" pitchFamily="18" charset="0"/>
              </a:rPr>
              <a:t>End-to-End Lifecycle Tracking:</a:t>
            </a:r>
            <a:endParaRPr lang="en-US" altLang="en-US" sz="1600" b="1"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The application monitors the entire order journey from product selection to final confirmation, making it easy to log system errors and pinpoint exactly where users drop off.</a:t>
            </a:r>
            <a:endParaRPr lang="en-US" alt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4"/>
            <a:ext cx="7467600" cy="944562"/>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Modules-1 &amp; 2</a:t>
            </a:r>
            <a:endParaRPr lang="en-US" sz="2800" b="1" dirty="0">
              <a:solidFill>
                <a:srgbClr val="0070C0"/>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1"/>
          <a:stretch>
            <a:fillRect/>
          </a:stretch>
        </p:blipFill>
        <p:spPr>
          <a:xfrm>
            <a:off x="464820" y="937418"/>
            <a:ext cx="8229600" cy="2773364"/>
          </a:xfrm>
          <a:prstGeom prst="rect">
            <a:avLst/>
          </a:prstGeom>
        </p:spPr>
      </p:pic>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9" name="Picture 8"/>
          <p:cNvPicPr>
            <a:picLocks noChangeAspect="1"/>
          </p:cNvPicPr>
          <p:nvPr/>
        </p:nvPicPr>
        <p:blipFill>
          <a:blip r:embed="rId3"/>
          <a:stretch>
            <a:fillRect/>
          </a:stretch>
        </p:blipFill>
        <p:spPr>
          <a:xfrm>
            <a:off x="464820" y="3870325"/>
            <a:ext cx="8298180" cy="2895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Modules-3 &amp; 4</a:t>
            </a:r>
            <a:endParaRPr lang="en-IN" sz="2800" dirty="0"/>
          </a:p>
        </p:txBody>
      </p:sp>
      <p:pic>
        <p:nvPicPr>
          <p:cNvPr id="5" name="Content Placeholder 4"/>
          <p:cNvPicPr>
            <a:picLocks noGrp="1" noChangeAspect="1"/>
          </p:cNvPicPr>
          <p:nvPr>
            <p:ph idx="1"/>
          </p:nvPr>
        </p:nvPicPr>
        <p:blipFill>
          <a:blip r:embed="rId1"/>
          <a:stretch>
            <a:fillRect/>
          </a:stretch>
        </p:blipFill>
        <p:spPr>
          <a:xfrm>
            <a:off x="457200" y="616053"/>
            <a:ext cx="8229600" cy="3087267"/>
          </a:xfrm>
          <a:prstGeom prst="rect">
            <a:avLst/>
          </a:prstGeom>
        </p:spPr>
      </p:pic>
      <p:pic>
        <p:nvPicPr>
          <p:cNvPr id="6" name="Content Placeholder 4"/>
          <p:cNvPicPr>
            <a:picLocks noChangeAspect="1"/>
          </p:cNvPicPr>
          <p:nvPr/>
        </p:nvPicPr>
        <p:blipFill>
          <a:blip r:embed="rId2"/>
          <a:stretch>
            <a:fillRect/>
          </a:stretch>
        </p:blipFill>
        <p:spPr>
          <a:xfrm>
            <a:off x="457200" y="3733800"/>
            <a:ext cx="8229600" cy="2819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Modules-5 &amp; 6</a:t>
            </a:r>
            <a:endParaRPr lang="en-IN" sz="2800" dirty="0"/>
          </a:p>
        </p:txBody>
      </p:sp>
      <p:pic>
        <p:nvPicPr>
          <p:cNvPr id="7" name="Content Placeholder 6"/>
          <p:cNvPicPr>
            <a:picLocks noGrp="1" noChangeAspect="1"/>
          </p:cNvPicPr>
          <p:nvPr>
            <p:ph idx="1"/>
          </p:nvPr>
        </p:nvPicPr>
        <p:blipFill>
          <a:blip r:embed="rId1"/>
          <a:stretch>
            <a:fillRect/>
          </a:stretch>
        </p:blipFill>
        <p:spPr>
          <a:xfrm>
            <a:off x="304800" y="762000"/>
            <a:ext cx="8534400" cy="2827020"/>
          </a:xfrm>
          <a:prstGeom prst="rect">
            <a:avLst/>
          </a:prstGeom>
        </p:spPr>
      </p:pic>
      <p:pic>
        <p:nvPicPr>
          <p:cNvPr id="8" name="Content Placeholder 5"/>
          <p:cNvPicPr>
            <a:picLocks noChangeAspect="1"/>
          </p:cNvPicPr>
          <p:nvPr/>
        </p:nvPicPr>
        <p:blipFill>
          <a:blip r:embed="rId2"/>
          <a:stretch>
            <a:fillRect/>
          </a:stretch>
        </p:blipFill>
        <p:spPr>
          <a:xfrm>
            <a:off x="281152" y="3733800"/>
            <a:ext cx="8534400" cy="25209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1"/>
          <a:stretch>
            <a:fillRect/>
          </a:stretch>
        </p:blipFill>
        <p:spPr>
          <a:xfrm>
            <a:off x="609600" y="838200"/>
            <a:ext cx="8077200" cy="304800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8" name="Picture 7"/>
          <p:cNvPicPr>
            <a:picLocks noChangeAspect="1"/>
          </p:cNvPicPr>
          <p:nvPr/>
        </p:nvPicPr>
        <p:blipFill>
          <a:blip r:embed="rId3"/>
          <a:stretch>
            <a:fillRect/>
          </a:stretch>
        </p:blipFill>
        <p:spPr>
          <a:xfrm>
            <a:off x="609601" y="3810000"/>
            <a:ext cx="8103476" cy="304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9" name="Picture 8"/>
          <p:cNvPicPr>
            <a:picLocks noChangeAspect="1"/>
          </p:cNvPicPr>
          <p:nvPr/>
        </p:nvPicPr>
        <p:blipFill>
          <a:blip r:embed="rId2"/>
          <a:stretch>
            <a:fillRect/>
          </a:stretch>
        </p:blipFill>
        <p:spPr>
          <a:xfrm>
            <a:off x="914400" y="761736"/>
            <a:ext cx="7086600" cy="2895864"/>
          </a:xfrm>
          <a:prstGeom prst="rect">
            <a:avLst/>
          </a:prstGeom>
        </p:spPr>
      </p:pic>
      <p:pic>
        <p:nvPicPr>
          <p:cNvPr id="11" name="Picture 10"/>
          <p:cNvPicPr>
            <a:picLocks noChangeAspect="1"/>
          </p:cNvPicPr>
          <p:nvPr/>
        </p:nvPicPr>
        <p:blipFill>
          <a:blip r:embed="rId3"/>
          <a:stretch>
            <a:fillRect/>
          </a:stretch>
        </p:blipFill>
        <p:spPr>
          <a:xfrm>
            <a:off x="914400" y="3657600"/>
            <a:ext cx="7086600" cy="29741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050925"/>
            <a:ext cx="8229600" cy="5075239"/>
          </a:xfrm>
        </p:spPr>
        <p:txBody>
          <a:bodyPr>
            <a:normAutofit/>
          </a:bodyPr>
          <a:lstStyle/>
          <a:p>
            <a:r>
              <a:rPr lang="en-US" sz="1800" b="1" dirty="0">
                <a:latin typeface="Times New Roman" panose="02020603050405020304" pitchFamily="18" charset="0"/>
                <a:cs typeface="Times New Roman" panose="02020603050405020304" pitchFamily="18" charset="0"/>
              </a:rPr>
              <a:t>Conclusion:</a:t>
            </a:r>
            <a:endParaRPr lang="en-US" sz="18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This project delivers a secure, high-performance checkout system by separating frontend user experience from backend business logic. Utilizing React and Express.js, the architecture guarantees a seamless, data-persistent user journey while maintaining total financial integrity. It stands as a robust, scalable template ready for modern, high-stakes e-commerce applications.</a:t>
            </a:r>
            <a:endParaRPr lang="en-US" altLang="en-US" sz="1800" dirty="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Future Scope: </a:t>
            </a:r>
            <a:endParaRPr lang="en-US" altLang="en-US" sz="18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Full Payment Integration: Connect actual payment gateways like Stripe or PayPal to handle real money securely.</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Smart AI Discounts: Use basic AI to suggest personalized coupon codes and extra product add-ons at checkout.</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Automated Address Checking: Add tools like Google Maps to auto-fill and verify shipping addresses instantly.</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Admin Analytics Dashboard: Create a simple tracking dashboard so store owners can see exactly where users drop off and quit the checkout.</a:t>
            </a:r>
            <a:endParaRPr lang="en-US" altLang="en-US"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noAutofit/>
          </a:bodyPr>
          <a:lstStyle/>
          <a:p>
            <a:r>
              <a:rPr lang="en-US" altLang="en-IN" sz="1500" b="1">
                <a:latin typeface="Times New Roman" panose="02020603050405020304" pitchFamily="18" charset="0"/>
                <a:cs typeface="Times New Roman" panose="02020603050405020304" pitchFamily="18" charset="0"/>
              </a:rPr>
              <a:t>Some References: </a:t>
            </a:r>
            <a:endParaRPr lang="en-US" altLang="en-IN" sz="1500" b="1">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Flanagan, D. (2020). JavaScript: The Definitive Guide. O'Reilly Media.</a:t>
            </a:r>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Relevance: Explains client-side data persistence storage patterns (LocalStorage) and asynchronous data fetching architecture via APIs.</a:t>
            </a:r>
            <a:endParaRPr lang="en-US" altLang="en-US" sz="1500">
              <a:latin typeface="Times New Roman" panose="02020603050405020304" pitchFamily="18" charset="0"/>
              <a:cs typeface="Times New Roman" panose="02020603050405020304" pitchFamily="18" charset="0"/>
            </a:endParaRPr>
          </a:p>
          <a:p>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Banks, A., &amp; Porcello, E. (2020). Learning React: Modern Patterns for Developing React Apps. O'Reilly Media.</a:t>
            </a:r>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Relevance: Covers global state management using the React Context API, modular component design, and handling complex multi-step user interfaces.</a:t>
            </a:r>
            <a:endParaRPr lang="en-US" altLang="en-US" sz="1500">
              <a:latin typeface="Times New Roman" panose="02020603050405020304" pitchFamily="18" charset="0"/>
              <a:cs typeface="Times New Roman" panose="02020603050405020304" pitchFamily="18" charset="0"/>
            </a:endParaRPr>
          </a:p>
          <a:p>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*Node.js &amp; Express.js Documentation (Official).</a:t>
            </a:r>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Relevance: Serves as the primary reference for building secure, server-side validation layers, managing route structures, and preventing client-side data manipulation in transactional workflows.</a:t>
            </a:r>
            <a:endParaRPr lang="en-US" altLang="en-US" sz="150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6781</Words>
  <Application>WPS Presentation</Application>
  <PresentationFormat>On-screen Show (4:3)</PresentationFormat>
  <Paragraphs>105</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Times New Roman</vt:lpstr>
      <vt:lpstr>Aptos</vt:lpstr>
      <vt:lpstr>Segoe UI</vt:lpstr>
      <vt:lpstr>Microsoft YaHei</vt:lpstr>
      <vt:lpstr>Arial Unicode MS</vt:lpstr>
      <vt:lpstr>Calibri</vt:lpstr>
      <vt:lpstr>Office Theme</vt:lpstr>
      <vt:lpstr> A Project Review Meeting    on  Shopping Cart &amp; Checkout Flow</vt:lpstr>
      <vt:lpstr>Outline of the Presentation</vt:lpstr>
      <vt:lpstr>Abstract</vt:lpstr>
      <vt:lpstr>Introduction</vt:lpstr>
      <vt:lpstr>Problem Statement </vt:lpstr>
      <vt:lpstr>Project Flow Diagram</vt:lpstr>
      <vt:lpstr>Objectives with Justification </vt:lpstr>
      <vt:lpstr>Modules-1 &amp; 2</vt:lpstr>
      <vt:lpstr>Modules-3 &amp; 4</vt:lpstr>
      <vt:lpstr>Modules-5 &amp; 6</vt:lpstr>
      <vt:lpstr>Expected Outcomes of the Proposed Work </vt:lpstr>
      <vt:lpstr>Expected Outcomes of the Proposed Work </vt:lpstr>
      <vt:lpstr>Conclusion and Future Scope</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Pranav Chowdary</cp:lastModifiedBy>
  <cp:revision>201</cp:revision>
  <dcterms:created xsi:type="dcterms:W3CDTF">2006-08-16T00:00:00Z</dcterms:created>
  <dcterms:modified xsi:type="dcterms:W3CDTF">2026-06-19T07:43:48Z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33111639C8994B0E8214FA9A7491F32A_13</vt:lpwstr>
  </property>
</Properties>
</file>